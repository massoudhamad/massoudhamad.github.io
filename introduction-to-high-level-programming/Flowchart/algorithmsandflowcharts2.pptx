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/>
              <a:endParaRPr sz="2400" dirty="0">
                <a:latin typeface="Times New Roman" pitchFamily="18" charset="0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sz="2400" dirty="0">
                <a:latin typeface="Times New Roman" pitchFamily="18" charset="0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9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0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1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2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3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4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5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6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7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  <p:sp>
            <p:nvSpPr>
              <p:cNvPr id="2068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smtClean="0"/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4C8360-37A8-462D-BC90-2C3E4C74D5E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12C79-AED7-480F-AAD1-F215784CEB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/>
              <a:endParaRPr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pPr lvl="0" eaLnBrk="1" hangingPunct="1"/>
              <a:endParaRPr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hlink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hlink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accent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hlink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accent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dirty="0">
                <a:solidFill>
                  <a:schemeClr val="accent2"/>
                </a:solidFill>
                <a:latin typeface="Arial" panose="0208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8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ALGORITHMS &amp; FLOWCHARTING II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idx="1"/>
          </p:nvPr>
        </p:nvSpPr>
        <p:spPr>
          <a:xfrm>
            <a:off x="1828800" y="4800600"/>
            <a:ext cx="6019800" cy="1219200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buSzPct val="75000"/>
            </a:pPr>
            <a:endParaRPr lang="tr-TR" altLang="x-none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b="1" dirty="0"/>
              <a:t>LOOPS</a:t>
            </a:r>
            <a:r>
              <a:rPr dirty="0"/>
              <a:t> </a:t>
            </a:r>
            <a:endParaRPr dirty="0"/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Computers are particularly well suited to applications in which operations are repeated many times. </a:t>
            </a:r>
            <a:endParaRPr dirty="0"/>
          </a:p>
          <a:p>
            <a:pPr eaLnBrk="1" hangingPunct="1"/>
            <a:r>
              <a:rPr dirty="0"/>
              <a:t>If the same task is repeated over and over again a loop can be used to reduce program size and complexity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sz="4000" dirty="0"/>
              <a:t>Example 8: Write an algorithm and draw a flowchart to calculate 2</a:t>
            </a:r>
            <a:r>
              <a:rPr sz="4000" baseline="30000" dirty="0"/>
              <a:t>4</a:t>
            </a:r>
            <a:r>
              <a:rPr sz="4000" dirty="0"/>
              <a:t> . </a:t>
            </a:r>
            <a:endParaRPr sz="4000" dirty="0"/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b="1" dirty="0"/>
              <a:t>Algorithm</a:t>
            </a:r>
            <a:r>
              <a:rPr dirty="0"/>
              <a:t>: 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1:	Base </a:t>
            </a:r>
            <a:r>
              <a:rPr dirty="0">
                <a:sym typeface="Symbol" pitchFamily="18" charset="2"/>
              </a:rPr>
              <a:t> </a:t>
            </a:r>
            <a:r>
              <a:rPr dirty="0"/>
              <a:t>2 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2: 	Product </a:t>
            </a:r>
            <a:r>
              <a:rPr dirty="0">
                <a:sym typeface="Symbol" pitchFamily="18" charset="2"/>
              </a:rPr>
              <a:t></a:t>
            </a:r>
            <a:r>
              <a:rPr dirty="0"/>
              <a:t> Base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3: 	Product </a:t>
            </a:r>
            <a:r>
              <a:rPr dirty="0">
                <a:sym typeface="Symbol" pitchFamily="18" charset="2"/>
              </a:rPr>
              <a:t></a:t>
            </a:r>
            <a:r>
              <a:rPr dirty="0"/>
              <a:t> Product * Base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4: 	Product </a:t>
            </a:r>
            <a:r>
              <a:rPr dirty="0">
                <a:sym typeface="Symbol" pitchFamily="18" charset="2"/>
              </a:rPr>
              <a:t></a:t>
            </a:r>
            <a:r>
              <a:rPr dirty="0"/>
              <a:t> Product * Base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5: 	Product </a:t>
            </a:r>
            <a:r>
              <a:rPr dirty="0">
                <a:sym typeface="Symbol" pitchFamily="18" charset="2"/>
              </a:rPr>
              <a:t></a:t>
            </a:r>
            <a:r>
              <a:rPr dirty="0"/>
              <a:t> Product * Base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Step 6: 	</a:t>
            </a:r>
            <a:r>
              <a:rPr i="1" dirty="0"/>
              <a:t>Print</a:t>
            </a:r>
            <a:r>
              <a:rPr dirty="0"/>
              <a:t>  Product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b="1" dirty="0"/>
              <a:t>Flowchart</a:t>
            </a:r>
            <a:r>
              <a:rPr dirty="0"/>
              <a:t> </a:t>
            </a:r>
            <a:endParaRPr dirty="0"/>
          </a:p>
        </p:txBody>
      </p:sp>
      <p:grpSp>
        <p:nvGrpSpPr>
          <p:cNvPr id="6147" name="Group 25"/>
          <p:cNvGrpSpPr/>
          <p:nvPr/>
        </p:nvGrpSpPr>
        <p:grpSpPr>
          <a:xfrm>
            <a:off x="4038600" y="1447800"/>
            <a:ext cx="2687638" cy="4568825"/>
            <a:chOff x="2544" y="912"/>
            <a:chExt cx="1693" cy="2878"/>
          </a:xfrm>
        </p:grpSpPr>
        <p:sp>
          <p:nvSpPr>
            <p:cNvPr id="6148" name="AutoShape 5"/>
            <p:cNvSpPr/>
            <p:nvPr/>
          </p:nvSpPr>
          <p:spPr>
            <a:xfrm>
              <a:off x="3132" y="912"/>
              <a:ext cx="576" cy="230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START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49" name="Line 6"/>
            <p:cNvSpPr/>
            <p:nvPr/>
          </p:nvSpPr>
          <p:spPr>
            <a:xfrm>
              <a:off x="3420" y="1142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0" name="AutoShape 8"/>
            <p:cNvSpPr/>
            <p:nvPr/>
          </p:nvSpPr>
          <p:spPr>
            <a:xfrm>
              <a:off x="2832" y="1680"/>
              <a:ext cx="1174" cy="240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Product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b="1" dirty="0">
                  <a:latin typeface="Arial" panose="02080604020202020204" pitchFamily="34" charset="0"/>
                </a:rPr>
                <a:t> Base</a:t>
              </a:r>
              <a:endParaRPr sz="1200" b="1" dirty="0">
                <a:solidFill>
                  <a:srgbClr val="000000"/>
                </a:solidFill>
                <a:latin typeface="TimesNewRomanPSMT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51" name="AutoShape 9"/>
            <p:cNvSpPr/>
            <p:nvPr/>
          </p:nvSpPr>
          <p:spPr>
            <a:xfrm>
              <a:off x="2928" y="3072"/>
              <a:ext cx="979" cy="334"/>
            </a:xfrm>
            <a:prstGeom prst="flowChartDisplay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Print</a:t>
              </a:r>
              <a:endParaRPr sz="1200" b="1" dirty="0">
                <a:latin typeface="Arial" panose="02080604020202020204" pitchFamily="34" charset="0"/>
              </a:endParaRPr>
            </a:p>
            <a:p>
              <a:pPr algn="ctr"/>
              <a:r>
                <a:rPr sz="1200" b="1" dirty="0">
                  <a:latin typeface="Arial" panose="02080604020202020204" pitchFamily="34" charset="0"/>
                </a:rPr>
                <a:t>Product 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52" name="AutoShape 10"/>
            <p:cNvSpPr/>
            <p:nvPr/>
          </p:nvSpPr>
          <p:spPr>
            <a:xfrm>
              <a:off x="3120" y="3552"/>
              <a:ext cx="576" cy="238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STOP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53" name="Line 11"/>
            <p:cNvSpPr/>
            <p:nvPr/>
          </p:nvSpPr>
          <p:spPr>
            <a:xfrm>
              <a:off x="3408" y="1536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4" name="AutoShape 12"/>
            <p:cNvSpPr/>
            <p:nvPr/>
          </p:nvSpPr>
          <p:spPr>
            <a:xfrm>
              <a:off x="2822" y="2016"/>
              <a:ext cx="1402" cy="192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Product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dirty="0">
                  <a:latin typeface="Arial" panose="02080604020202020204" pitchFamily="34" charset="0"/>
                </a:rPr>
                <a:t> </a:t>
              </a:r>
              <a:r>
                <a:rPr sz="1200" b="1" dirty="0">
                  <a:latin typeface="Arial" panose="02080604020202020204" pitchFamily="34" charset="0"/>
                </a:rPr>
                <a:t>Product * Base</a:t>
              </a:r>
              <a:endParaRPr sz="1200" b="1" dirty="0">
                <a:solidFill>
                  <a:srgbClr val="000000"/>
                </a:solidFill>
                <a:latin typeface="TimesNewRomanPSMT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55" name="Line 13"/>
            <p:cNvSpPr/>
            <p:nvPr/>
          </p:nvSpPr>
          <p:spPr>
            <a:xfrm flipH="1">
              <a:off x="3406" y="1920"/>
              <a:ext cx="2" cy="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6" name="AutoShape 14"/>
            <p:cNvSpPr/>
            <p:nvPr/>
          </p:nvSpPr>
          <p:spPr>
            <a:xfrm>
              <a:off x="2544" y="2352"/>
              <a:ext cx="1693" cy="244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Product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dirty="0">
                  <a:latin typeface="Arial" panose="02080604020202020204" pitchFamily="34" charset="0"/>
                </a:rPr>
                <a:t> </a:t>
              </a:r>
              <a:r>
                <a:rPr sz="1200" b="1" dirty="0">
                  <a:latin typeface="Arial" panose="02080604020202020204" pitchFamily="34" charset="0"/>
                </a:rPr>
                <a:t>Product * Base</a:t>
              </a:r>
              <a:endParaRPr sz="1200" b="1" dirty="0">
                <a:solidFill>
                  <a:srgbClr val="000000"/>
                </a:solidFill>
                <a:latin typeface="TimesNewRomanPSMT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57" name="Line 15"/>
            <p:cNvSpPr/>
            <p:nvPr/>
          </p:nvSpPr>
          <p:spPr>
            <a:xfrm>
              <a:off x="3408" y="2208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8" name="Line 16"/>
            <p:cNvSpPr/>
            <p:nvPr/>
          </p:nvSpPr>
          <p:spPr>
            <a:xfrm>
              <a:off x="3408" y="2592"/>
              <a:ext cx="0" cy="1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9" name="Line 17"/>
            <p:cNvSpPr/>
            <p:nvPr/>
          </p:nvSpPr>
          <p:spPr>
            <a:xfrm>
              <a:off x="3408" y="3408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0" name="AutoShape 18"/>
            <p:cNvSpPr/>
            <p:nvPr/>
          </p:nvSpPr>
          <p:spPr>
            <a:xfrm>
              <a:off x="2640" y="2736"/>
              <a:ext cx="1549" cy="192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Product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b="1" dirty="0">
                  <a:latin typeface="Arial" panose="02080604020202020204" pitchFamily="34" charset="0"/>
                </a:rPr>
                <a:t> Product * Base</a:t>
              </a:r>
              <a:endParaRPr sz="1200" b="1" dirty="0">
                <a:solidFill>
                  <a:srgbClr val="000000"/>
                </a:solidFill>
                <a:latin typeface="TimesNewRomanPSMT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6161" name="Line 19"/>
            <p:cNvSpPr/>
            <p:nvPr/>
          </p:nvSpPr>
          <p:spPr>
            <a:xfrm>
              <a:off x="3408" y="2928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2" name="Text Box 20"/>
            <p:cNvSpPr txBox="1"/>
            <p:nvPr/>
          </p:nvSpPr>
          <p:spPr>
            <a:xfrm>
              <a:off x="2880" y="1296"/>
              <a:ext cx="1104" cy="23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dirty="0">
                  <a:latin typeface="Arial" panose="02080604020202020204" pitchFamily="34" charset="0"/>
                </a:rPr>
                <a:t>Base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2</a:t>
              </a:r>
              <a:endParaRPr dirty="0">
                <a:latin typeface="Arial" panose="02080604020202020204" pitchFamily="34" charset="0"/>
                <a:sym typeface="Symbol" pitchFamily="18" charset="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tr-TR" altLang="x-none" dirty="0"/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sz="3600" dirty="0"/>
              <a:t>Question</a:t>
            </a:r>
            <a:r>
              <a:rPr dirty="0"/>
              <a:t>: What happens if you want to calculate 2 to the power of 1000?</a:t>
            </a:r>
            <a:endParaRPr dirty="0"/>
          </a:p>
          <a:p>
            <a:pPr eaLnBrk="1" hangingPunct="1"/>
            <a:r>
              <a:rPr b="1" dirty="0"/>
              <a:t>Answer</a:t>
            </a:r>
            <a:r>
              <a:rPr dirty="0"/>
              <a:t>: Use a LOOP (repeated execution of the same set of instructions)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tr-TR" altLang="x-none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Example 9: Write an algorithm and draw a flowchart to calculate 2</a:t>
            </a:r>
            <a:r>
              <a:rPr baseline="30000" dirty="0"/>
              <a:t>4</a:t>
            </a:r>
            <a:r>
              <a:rPr dirty="0"/>
              <a:t> using a loop approach? Verify your result by a </a:t>
            </a:r>
            <a:r>
              <a:rPr i="1" dirty="0"/>
              <a:t>trace table</a:t>
            </a:r>
            <a:r>
              <a:rPr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b="1" dirty="0"/>
              <a:t>Algorithm</a:t>
            </a:r>
            <a:r>
              <a:rPr dirty="0"/>
              <a:t>: </a:t>
            </a:r>
            <a:endParaRPr dirty="0"/>
          </a:p>
        </p:txBody>
      </p:sp>
      <p:sp>
        <p:nvSpPr>
          <p:cNvPr id="9219" name="Rectangle 44"/>
          <p:cNvSpPr/>
          <p:nvPr/>
        </p:nvSpPr>
        <p:spPr>
          <a:xfrm>
            <a:off x="685800" y="1981200"/>
            <a:ext cx="5410200" cy="2563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dirty="0">
                <a:latin typeface="Arial" panose="02080604020202020204" pitchFamily="34" charset="0"/>
              </a:rPr>
              <a:t>Step 1:	Base </a:t>
            </a:r>
            <a:r>
              <a:rPr dirty="0">
                <a:latin typeface="Arial" panose="02080604020202020204" pitchFamily="34" charset="0"/>
                <a:sym typeface="Symbol" pitchFamily="18" charset="2"/>
              </a:rPr>
              <a:t> </a:t>
            </a:r>
            <a:r>
              <a:rPr dirty="0">
                <a:latin typeface="Arial" panose="02080604020202020204" pitchFamily="34" charset="0"/>
              </a:rPr>
              <a:t>2 </a:t>
            </a:r>
            <a:endParaRPr dirty="0">
              <a:latin typeface="Arial" panose="02080604020202020204" pitchFamily="34" charset="0"/>
            </a:endParaRPr>
          </a:p>
          <a:p>
            <a:r>
              <a:rPr dirty="0">
                <a:latin typeface="Arial" panose="02080604020202020204" pitchFamily="34" charset="0"/>
              </a:rPr>
              <a:t>Step 2:   Power </a:t>
            </a:r>
            <a:r>
              <a:rPr dirty="0">
                <a:latin typeface="Arial" panose="02080604020202020204" pitchFamily="34" charset="0"/>
                <a:sym typeface="Symbol" pitchFamily="18" charset="2"/>
              </a:rPr>
              <a:t> 4</a:t>
            </a:r>
            <a:endParaRPr dirty="0">
              <a:latin typeface="Arial" panose="02080604020202020204" pitchFamily="34" charset="0"/>
              <a:sym typeface="Symbol" pitchFamily="18" charset="2"/>
            </a:endParaRPr>
          </a:p>
          <a:p>
            <a:r>
              <a:rPr dirty="0">
                <a:latin typeface="Arial" panose="02080604020202020204" pitchFamily="34" charset="0"/>
                <a:sym typeface="Symbol" pitchFamily="18" charset="2"/>
              </a:rPr>
              <a:t>Step 3:	Product  Base</a:t>
            </a:r>
            <a:endParaRPr dirty="0">
              <a:latin typeface="Arial" panose="02080604020202020204" pitchFamily="34" charset="0"/>
              <a:sym typeface="Symbol" pitchFamily="18" charset="2"/>
            </a:endParaRPr>
          </a:p>
          <a:p>
            <a:r>
              <a:rPr dirty="0">
                <a:latin typeface="Arial" panose="02080604020202020204" pitchFamily="34" charset="0"/>
                <a:sym typeface="Symbol" pitchFamily="18" charset="2"/>
              </a:rPr>
              <a:t>Step 4:   Counter  1  </a:t>
            </a:r>
            <a:endParaRPr dirty="0">
              <a:latin typeface="Arial" panose="02080604020202020204" pitchFamily="34" charset="0"/>
              <a:sym typeface="Symbol" pitchFamily="18" charset="2"/>
            </a:endParaRPr>
          </a:p>
          <a:p>
            <a:r>
              <a:rPr dirty="0">
                <a:latin typeface="Arial" panose="02080604020202020204" pitchFamily="34" charset="0"/>
              </a:rPr>
              <a:t>Step 5:	While Counter &lt; Power</a:t>
            </a:r>
            <a:endParaRPr dirty="0">
              <a:latin typeface="Arial" panose="02080604020202020204" pitchFamily="34" charset="0"/>
            </a:endParaRPr>
          </a:p>
          <a:p>
            <a:r>
              <a:rPr dirty="0">
                <a:latin typeface="Arial" panose="02080604020202020204" pitchFamily="34" charset="0"/>
              </a:rPr>
              <a:t>	Repeat Step 5 through step 7	</a:t>
            </a:r>
            <a:endParaRPr dirty="0">
              <a:latin typeface="Arial" panose="02080604020202020204" pitchFamily="34" charset="0"/>
            </a:endParaRPr>
          </a:p>
          <a:p>
            <a:r>
              <a:rPr dirty="0">
                <a:latin typeface="Arial" panose="02080604020202020204" pitchFamily="34" charset="0"/>
              </a:rPr>
              <a:t>Step 6: 	Product </a:t>
            </a:r>
            <a:r>
              <a:rPr dirty="0">
                <a:latin typeface="Arial" panose="02080604020202020204" pitchFamily="34" charset="0"/>
                <a:sym typeface="Symbol" pitchFamily="18" charset="2"/>
              </a:rPr>
              <a:t></a:t>
            </a:r>
            <a:r>
              <a:rPr dirty="0">
                <a:latin typeface="Arial" panose="02080604020202020204" pitchFamily="34" charset="0"/>
              </a:rPr>
              <a:t> Product * Base</a:t>
            </a:r>
            <a:endParaRPr dirty="0">
              <a:latin typeface="Arial" panose="02080604020202020204" pitchFamily="34" charset="0"/>
            </a:endParaRPr>
          </a:p>
          <a:p>
            <a:r>
              <a:rPr dirty="0">
                <a:latin typeface="Arial" panose="02080604020202020204" pitchFamily="34" charset="0"/>
              </a:rPr>
              <a:t>Step 7: 	</a:t>
            </a:r>
            <a:r>
              <a:rPr dirty="0">
                <a:latin typeface="Arial" panose="02080604020202020204" pitchFamily="34" charset="0"/>
                <a:sym typeface="Symbol" pitchFamily="18" charset="2"/>
              </a:rPr>
              <a:t>Counter  Counter +1 </a:t>
            </a:r>
            <a:endParaRPr dirty="0">
              <a:latin typeface="Arial" panose="02080604020202020204" pitchFamily="34" charset="0"/>
            </a:endParaRPr>
          </a:p>
          <a:p>
            <a:r>
              <a:rPr dirty="0">
                <a:latin typeface="Arial" panose="02080604020202020204" pitchFamily="34" charset="0"/>
              </a:rPr>
              <a:t>Step 8: 	</a:t>
            </a:r>
            <a:r>
              <a:rPr i="1" dirty="0">
                <a:latin typeface="Arial" panose="02080604020202020204" pitchFamily="34" charset="0"/>
              </a:rPr>
              <a:t>Print</a:t>
            </a:r>
            <a:r>
              <a:rPr dirty="0">
                <a:latin typeface="Arial" panose="02080604020202020204" pitchFamily="34" charset="0"/>
              </a:rPr>
              <a:t>  Product</a:t>
            </a:r>
            <a:endParaRPr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tr-TR" altLang="x-none" dirty="0"/>
          </a:p>
        </p:txBody>
      </p:sp>
      <p:grpSp>
        <p:nvGrpSpPr>
          <p:cNvPr id="10243" name="Group 30"/>
          <p:cNvGrpSpPr/>
          <p:nvPr/>
        </p:nvGrpSpPr>
        <p:grpSpPr>
          <a:xfrm>
            <a:off x="1828800" y="1905000"/>
            <a:ext cx="4216400" cy="4194175"/>
            <a:chOff x="1152" y="1200"/>
            <a:chExt cx="2656" cy="2642"/>
          </a:xfrm>
        </p:grpSpPr>
        <p:sp>
          <p:nvSpPr>
            <p:cNvPr id="10244" name="AutoShape 5"/>
            <p:cNvSpPr/>
            <p:nvPr/>
          </p:nvSpPr>
          <p:spPr>
            <a:xfrm>
              <a:off x="1713" y="1200"/>
              <a:ext cx="576" cy="230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START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45" name="Line 6"/>
            <p:cNvSpPr/>
            <p:nvPr/>
          </p:nvSpPr>
          <p:spPr>
            <a:xfrm>
              <a:off x="2001" y="1430"/>
              <a:ext cx="0" cy="1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46" name="AutoShape 8"/>
            <p:cNvSpPr/>
            <p:nvPr/>
          </p:nvSpPr>
          <p:spPr>
            <a:xfrm>
              <a:off x="1344" y="1968"/>
              <a:ext cx="1182" cy="333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sz="1200" b="1" dirty="0">
                  <a:latin typeface="Times" pitchFamily="18" charset="0"/>
                  <a:cs typeface="Times New Roman" pitchFamily="18" charset="0"/>
                </a:rPr>
                <a:t>Product </a:t>
              </a:r>
              <a:r>
                <a:rPr sz="1200"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dirty="0">
                  <a:latin typeface="Arial" panose="02080604020202020204" pitchFamily="34" charset="0"/>
                </a:rPr>
                <a:t> </a:t>
              </a:r>
              <a:r>
                <a:rPr sz="1200" b="1" dirty="0">
                  <a:latin typeface="Times" pitchFamily="18" charset="0"/>
                  <a:cs typeface="Times New Roman" pitchFamily="18" charset="0"/>
                </a:rPr>
                <a:t>Base</a:t>
              </a:r>
              <a:endParaRPr sz="1200" dirty="0">
                <a:latin typeface="Arial" panose="02080604020202020204" pitchFamily="34" charset="0"/>
              </a:endParaRPr>
            </a:p>
            <a:p>
              <a:pPr algn="ctr"/>
              <a:r>
                <a:rPr sz="1200" b="1" dirty="0">
                  <a:latin typeface="Times" pitchFamily="18" charset="0"/>
                  <a:cs typeface="Times New Roman" pitchFamily="18" charset="0"/>
                </a:rPr>
                <a:t>Counter </a:t>
              </a:r>
              <a:r>
                <a:rPr sz="1200"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dirty="0">
                  <a:latin typeface="Arial" panose="02080604020202020204" pitchFamily="34" charset="0"/>
                </a:rPr>
                <a:t> </a:t>
              </a:r>
              <a:r>
                <a:rPr sz="1200" b="1" dirty="0">
                  <a:latin typeface="Times" pitchFamily="18" charset="0"/>
                  <a:cs typeface="Times New Roman" pitchFamily="18" charset="0"/>
                </a:rPr>
                <a:t>1</a:t>
              </a:r>
              <a:endParaRPr sz="1200" dirty="0">
                <a:latin typeface="Arial" panose="02080604020202020204" pitchFamily="34" charset="0"/>
              </a:endParaRPr>
            </a:p>
            <a:p>
              <a:endParaRPr sz="1200" dirty="0">
                <a:latin typeface="Arial" panose="02080604020202020204" pitchFamily="34" charset="0"/>
              </a:endParaRPr>
            </a:p>
          </p:txBody>
        </p:sp>
        <p:sp>
          <p:nvSpPr>
            <p:cNvPr id="10247" name="AutoShape 9"/>
            <p:cNvSpPr/>
            <p:nvPr/>
          </p:nvSpPr>
          <p:spPr>
            <a:xfrm>
              <a:off x="1508" y="2457"/>
              <a:ext cx="950" cy="432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48" name="AutoShape 10"/>
            <p:cNvSpPr/>
            <p:nvPr/>
          </p:nvSpPr>
          <p:spPr>
            <a:xfrm>
              <a:off x="2829" y="2905"/>
              <a:ext cx="979" cy="404"/>
            </a:xfrm>
            <a:prstGeom prst="flowChartDisplay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Print</a:t>
              </a:r>
              <a:endParaRPr sz="1100" dirty="0">
                <a:latin typeface="Arial" panose="02080604020202020204" pitchFamily="34" charset="0"/>
              </a:endParaRPr>
            </a:p>
            <a:p>
              <a:pPr algn="ctr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Product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49" name="AutoShape 11"/>
            <p:cNvSpPr/>
            <p:nvPr/>
          </p:nvSpPr>
          <p:spPr>
            <a:xfrm>
              <a:off x="3041" y="3512"/>
              <a:ext cx="576" cy="230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STOP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50" name="Line 12"/>
            <p:cNvSpPr/>
            <p:nvPr/>
          </p:nvSpPr>
          <p:spPr>
            <a:xfrm>
              <a:off x="1152" y="3840"/>
              <a:ext cx="7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1" name="Line 13"/>
            <p:cNvSpPr/>
            <p:nvPr/>
          </p:nvSpPr>
          <p:spPr>
            <a:xfrm>
              <a:off x="2452" y="2677"/>
              <a:ext cx="87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2" name="Line 14"/>
            <p:cNvSpPr/>
            <p:nvPr/>
          </p:nvSpPr>
          <p:spPr>
            <a:xfrm>
              <a:off x="3317" y="2677"/>
              <a:ext cx="0" cy="2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3" name="Text Box 15"/>
            <p:cNvSpPr txBox="1"/>
            <p:nvPr/>
          </p:nvSpPr>
          <p:spPr>
            <a:xfrm>
              <a:off x="1963" y="2859"/>
              <a:ext cx="28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Y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54" name="Text Box 16"/>
            <p:cNvSpPr txBox="1"/>
            <p:nvPr/>
          </p:nvSpPr>
          <p:spPr>
            <a:xfrm>
              <a:off x="1554" y="2520"/>
              <a:ext cx="8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 eaLnBrk="1" hangingPunct="1"/>
              <a:r>
                <a:rPr sz="1000" b="1" dirty="0">
                  <a:latin typeface="Arial" panose="02080604020202020204" pitchFamily="34" charset="0"/>
                  <a:cs typeface="Times New Roman" pitchFamily="18" charset="0"/>
                </a:rPr>
                <a:t>is</a:t>
              </a:r>
              <a:endParaRPr sz="1100" dirty="0">
                <a:latin typeface="Arial" panose="02080604020202020204" pitchFamily="34" charset="0"/>
              </a:endParaRPr>
            </a:p>
            <a:p>
              <a:pPr algn="ctr"/>
              <a:r>
                <a:rPr sz="1000" b="1" dirty="0">
                  <a:latin typeface="Arial" panose="02080604020202020204" pitchFamily="34" charset="0"/>
                  <a:cs typeface="Times New Roman" pitchFamily="18" charset="0"/>
                </a:rPr>
                <a:t>Counter &lt; Power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55" name="Line 17"/>
            <p:cNvSpPr/>
            <p:nvPr/>
          </p:nvSpPr>
          <p:spPr>
            <a:xfrm>
              <a:off x="1989" y="1872"/>
              <a:ext cx="0" cy="1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6" name="Line 18"/>
            <p:cNvSpPr/>
            <p:nvPr/>
          </p:nvSpPr>
          <p:spPr>
            <a:xfrm>
              <a:off x="1968" y="2304"/>
              <a:ext cx="14" cy="1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7" name="Line 19"/>
            <p:cNvSpPr/>
            <p:nvPr/>
          </p:nvSpPr>
          <p:spPr>
            <a:xfrm>
              <a:off x="1986" y="2897"/>
              <a:ext cx="0" cy="15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8" name="AutoShape 20"/>
            <p:cNvSpPr/>
            <p:nvPr/>
          </p:nvSpPr>
          <p:spPr>
            <a:xfrm>
              <a:off x="1372" y="3049"/>
              <a:ext cx="1412" cy="230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Product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 Product * Base</a:t>
              </a:r>
              <a:endParaRPr sz="1200" b="1" dirty="0">
                <a:latin typeface="Arial" panose="02080604020202020204" pitchFamily="34" charset="0"/>
                <a:ea typeface="Times New Roman" pitchFamily="18" charset="0"/>
              </a:endParaRPr>
            </a:p>
          </p:txBody>
        </p:sp>
        <p:sp>
          <p:nvSpPr>
            <p:cNvPr id="10259" name="Line 21"/>
            <p:cNvSpPr/>
            <p:nvPr/>
          </p:nvSpPr>
          <p:spPr>
            <a:xfrm>
              <a:off x="1978" y="3280"/>
              <a:ext cx="0" cy="15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0" name="AutoShape 22"/>
            <p:cNvSpPr/>
            <p:nvPr/>
          </p:nvSpPr>
          <p:spPr>
            <a:xfrm>
              <a:off x="1364" y="3432"/>
              <a:ext cx="1224" cy="230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Counter </a:t>
              </a:r>
              <a:r>
                <a:rPr dirty="0">
                  <a:latin typeface="Arial" panose="02080604020202020204" pitchFamily="34" charset="0"/>
                  <a:sym typeface="Symbol" pitchFamily="18" charset="2"/>
                </a:rPr>
                <a:t></a:t>
              </a:r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 Counter + 1</a:t>
              </a:r>
              <a:endParaRPr sz="1200" b="1" dirty="0">
                <a:latin typeface="Arial" panose="02080604020202020204" pitchFamily="34" charset="0"/>
                <a:ea typeface="Times New Roman" pitchFamily="18" charset="0"/>
              </a:endParaRPr>
            </a:p>
          </p:txBody>
        </p:sp>
        <p:sp>
          <p:nvSpPr>
            <p:cNvPr id="10261" name="Line 23"/>
            <p:cNvSpPr/>
            <p:nvPr/>
          </p:nvSpPr>
          <p:spPr>
            <a:xfrm>
              <a:off x="1920" y="3659"/>
              <a:ext cx="0" cy="18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2" name="Line 24"/>
            <p:cNvSpPr/>
            <p:nvPr/>
          </p:nvSpPr>
          <p:spPr>
            <a:xfrm flipH="1" flipV="1">
              <a:off x="1152" y="2400"/>
              <a:ext cx="4" cy="144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3" name="Line 25"/>
            <p:cNvSpPr/>
            <p:nvPr/>
          </p:nvSpPr>
          <p:spPr>
            <a:xfrm>
              <a:off x="1152" y="2400"/>
              <a:ext cx="82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4" name="Text Box 26"/>
            <p:cNvSpPr txBox="1"/>
            <p:nvPr/>
          </p:nvSpPr>
          <p:spPr>
            <a:xfrm>
              <a:off x="2448" y="2521"/>
              <a:ext cx="28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/>
              <a:r>
                <a:rPr sz="1200" b="1" dirty="0">
                  <a:latin typeface="Arial" panose="02080604020202020204" pitchFamily="34" charset="0"/>
                  <a:cs typeface="Times New Roman" pitchFamily="18" charset="0"/>
                </a:rPr>
                <a:t>N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0265" name="Line 27"/>
            <p:cNvSpPr/>
            <p:nvPr/>
          </p:nvSpPr>
          <p:spPr>
            <a:xfrm>
              <a:off x="3309" y="3298"/>
              <a:ext cx="0" cy="2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6" name="Text Box 28"/>
            <p:cNvSpPr txBox="1"/>
            <p:nvPr/>
          </p:nvSpPr>
          <p:spPr>
            <a:xfrm>
              <a:off x="1440" y="1536"/>
              <a:ext cx="1200" cy="33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sz="1400" dirty="0">
                  <a:latin typeface="Arial" panose="02080604020202020204" pitchFamily="34" charset="0"/>
                </a:rPr>
                <a:t>Base </a:t>
              </a:r>
              <a:r>
                <a:rPr sz="1400" dirty="0">
                  <a:latin typeface="Arial" panose="02080604020202020204" pitchFamily="34" charset="0"/>
                  <a:sym typeface="Symbol" pitchFamily="18" charset="2"/>
                </a:rPr>
                <a:t> 2</a:t>
              </a:r>
              <a:endParaRPr sz="1400" dirty="0">
                <a:latin typeface="Arial" panose="02080604020202020204" pitchFamily="34" charset="0"/>
                <a:sym typeface="Symbol" pitchFamily="18" charset="2"/>
              </a:endParaRPr>
            </a:p>
            <a:p>
              <a:r>
                <a:rPr sz="1400" dirty="0">
                  <a:latin typeface="Arial" panose="02080604020202020204" pitchFamily="34" charset="0"/>
                  <a:sym typeface="Symbol" pitchFamily="18" charset="2"/>
                </a:rPr>
                <a:t>Power 4</a:t>
              </a:r>
              <a:endParaRPr sz="1400" dirty="0">
                <a:latin typeface="Arial" panose="02080604020202020204" pitchFamily="34" charset="0"/>
                <a:sym typeface="Symbol" pitchFamily="18" charset="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TRACING</a:t>
            </a:r>
            <a:endParaRPr dirty="0"/>
          </a:p>
        </p:txBody>
      </p:sp>
      <p:graphicFrame>
        <p:nvGraphicFramePr>
          <p:cNvPr id="15428" name="Group 68"/>
          <p:cNvGraphicFramePr>
            <a:graphicFrameLocks noGrp="1"/>
          </p:cNvGraphicFramePr>
          <p:nvPr>
            <p:ph idx="1"/>
          </p:nvPr>
        </p:nvGraphicFramePr>
        <p:xfrm>
          <a:off x="457200" y="1981200"/>
          <a:ext cx="8229600" cy="3886200"/>
        </p:xfrm>
        <a:graphic>
          <a:graphicData uri="http://schemas.openxmlformats.org/drawingml/2006/table">
            <a:tbl>
              <a:tblPr/>
              <a:tblGrid>
                <a:gridCol w="4800600"/>
                <a:gridCol w="3429000"/>
              </a:tblGrid>
              <a:tr h="3886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     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BASE   POWER  PRODUCT  COUNTER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 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COUNTER &lt; POWER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1:    2            ?               ?                    ?                           ?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2:    2            4               ?                    ?                           ?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3:    2            4               2                    ?                           ?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4:    2            4               2                    1                           T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80604020202020204" pitchFamily="34" charset="0"/>
                        </a:rPr>
                        <a:t>STEP 5:    2            4               2                    1                           T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6:    2            4              2x2=4             1                           T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7:    2            4               4                  1+1=2                     T  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80604020202020204" pitchFamily="34" charset="0"/>
                        </a:rPr>
                        <a:t>STEP 5:    2            4               4                    2                           T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6:    2            4              4x2=8              2                          T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7:    2            4               8                   2+1=3                    T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80604020202020204" pitchFamily="34" charset="0"/>
                        </a:rPr>
                        <a:t>STEP 5:    2            4               8                    3                           T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6:    2            4              8x2=16           3                           T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7:    2            4             16                 3+1=4                      F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80604020202020204" pitchFamily="34" charset="0"/>
                        </a:rPr>
                        <a:t>STEP 5:    2            4             16                   4                            F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8:    print 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16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.     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1:	Base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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2:   Power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 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Step 3:	Product  Base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Step 4:   Counter  1 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5:	While Counter &lt; Power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	Repeat Step 5 through step 7	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6: 	Product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 Product * Base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7: 	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sym typeface="Symbol" pitchFamily="18" charset="2"/>
                        </a:rPr>
                        <a:t>Counter  Counter +1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8: 	</a:t>
                      </a: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Print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  Product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tr-TR" altLang="x-none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b="1" dirty="0"/>
              <a:t>Example 10:</a:t>
            </a:r>
            <a:r>
              <a:rPr dirty="0"/>
              <a:t> Write down an algorithm and draw a flowchart to find and print the largest of three numbers. Read numbers one by one. Verify your result by a trace table. (Use 5, 7, 3 as the numbers read)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b="1" dirty="0"/>
              <a:t>Algorithm</a:t>
            </a:r>
            <a:endParaRPr dirty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sz="2000" dirty="0"/>
              <a:t>Step 1:	</a:t>
            </a:r>
            <a:r>
              <a:rPr sz="2000" i="1" dirty="0"/>
              <a:t>Input</a:t>
            </a:r>
            <a:r>
              <a:rPr sz="2000" dirty="0"/>
              <a:t> N1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2: 	Max </a:t>
            </a:r>
            <a:r>
              <a:rPr sz="2000" dirty="0">
                <a:sym typeface="Wingdings" panose="05000000000000000000" pitchFamily="2" charset="2"/>
              </a:rPr>
              <a:t></a:t>
            </a:r>
            <a:r>
              <a:rPr sz="2000" dirty="0"/>
              <a:t> N1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3: 	</a:t>
            </a:r>
            <a:r>
              <a:rPr sz="2000" i="1" dirty="0"/>
              <a:t>Input</a:t>
            </a:r>
            <a:r>
              <a:rPr sz="2000" dirty="0"/>
              <a:t> N2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4: 	</a:t>
            </a:r>
            <a:r>
              <a:rPr sz="2000" i="1" dirty="0"/>
              <a:t>If (</a:t>
            </a:r>
            <a:r>
              <a:rPr sz="2000" dirty="0"/>
              <a:t>N2&gt;Max) </a:t>
            </a:r>
            <a:r>
              <a:rPr sz="2000" i="1" dirty="0"/>
              <a:t>then</a:t>
            </a:r>
            <a:endParaRPr sz="2000" i="1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i="1" dirty="0"/>
              <a:t>		 		</a:t>
            </a:r>
            <a:r>
              <a:rPr sz="2000" dirty="0"/>
              <a:t>Max = N2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			</a:t>
            </a:r>
            <a:r>
              <a:rPr sz="2000" i="1" dirty="0"/>
              <a:t>endif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5: 	</a:t>
            </a:r>
            <a:r>
              <a:rPr sz="2000" i="1" dirty="0"/>
              <a:t>Input</a:t>
            </a:r>
            <a:r>
              <a:rPr sz="2000" dirty="0"/>
              <a:t> N3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6: 	</a:t>
            </a:r>
            <a:r>
              <a:rPr sz="2000" i="1" dirty="0"/>
              <a:t>If (</a:t>
            </a:r>
            <a:r>
              <a:rPr sz="2000" dirty="0"/>
              <a:t>N3&gt;Max) then 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      			Max = N3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			</a:t>
            </a:r>
            <a:r>
              <a:rPr sz="2000" i="1" dirty="0"/>
              <a:t>endif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7: 	</a:t>
            </a:r>
            <a:r>
              <a:rPr sz="2000" i="1" dirty="0"/>
              <a:t>Print</a:t>
            </a:r>
            <a:r>
              <a:rPr sz="2000" dirty="0"/>
              <a:t>  “The largest number is:”,Max</a:t>
            </a: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sz="4000" dirty="0"/>
              <a:t>Flowchart &amp;</a:t>
            </a:r>
            <a:br>
              <a:rPr sz="4000" dirty="0"/>
            </a:br>
            <a:r>
              <a:rPr sz="4000" dirty="0"/>
              <a:t>Tracing</a:t>
            </a:r>
            <a:endParaRPr sz="4000" dirty="0"/>
          </a:p>
        </p:txBody>
      </p:sp>
      <p:graphicFrame>
        <p:nvGraphicFramePr>
          <p:cNvPr id="14339" name="Object 36"/>
          <p:cNvGraphicFramePr>
            <a:graphicFrameLocks noChangeAspect="1"/>
          </p:cNvGraphicFramePr>
          <p:nvPr>
            <p:ph idx="1"/>
          </p:nvPr>
        </p:nvGraphicFramePr>
        <p:xfrm>
          <a:off x="5181600" y="457200"/>
          <a:ext cx="1236663" cy="640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07540" imgH="9855200" progId="Visio.Drawing.11">
                  <p:embed/>
                </p:oleObj>
              </mc:Choice>
              <mc:Fallback>
                <p:oleObj name="" r:id="rId1" imgW="1907540" imgH="9855200" progId="Visio.Drawing.11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181600" y="457200"/>
                        <a:ext cx="1236663" cy="6400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38"/>
          <p:cNvSpPr txBox="1"/>
          <p:nvPr/>
        </p:nvSpPr>
        <p:spPr>
          <a:xfrm>
            <a:off x="304800" y="2362200"/>
            <a:ext cx="4876800" cy="260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dirty="0">
                <a:latin typeface="Arial" panose="02080604020202020204" pitchFamily="34" charset="0"/>
              </a:rPr>
              <a:t>            </a:t>
            </a:r>
            <a:r>
              <a:rPr sz="1400" dirty="0">
                <a:latin typeface="Arial" panose="02080604020202020204" pitchFamily="34" charset="0"/>
              </a:rPr>
              <a:t>N1      N2     N3      Max   N2&gt;Max  N3&gt;Max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Step1:      5         ?      ?           ?          ?             ?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2:     5         ?      ?            5          ?             ?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3:    5          7      ?           5           T            ?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4:    5          7      ?           7           T           ?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5:    5         7       3           7           F           F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6:    5         7       3          7            F          F</a:t>
            </a:r>
            <a:endParaRPr sz="1400" dirty="0">
              <a:latin typeface="Arial" panose="0208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sz="1400" dirty="0">
                <a:latin typeface="Arial" panose="02080604020202020204" pitchFamily="34" charset="0"/>
              </a:rPr>
              <a:t>Step 8:  Print  </a:t>
            </a:r>
            <a:r>
              <a:rPr sz="1400" dirty="0">
                <a:latin typeface="Arial" panose="02080604020202020204" pitchFamily="34" charset="0"/>
                <a:sym typeface="Wingdings" panose="05000000000000000000" pitchFamily="2" charset="2"/>
              </a:rPr>
              <a:t> </a:t>
            </a:r>
            <a:r>
              <a:rPr sz="1400" dirty="0">
                <a:latin typeface="Arial" panose="02080604020202020204" pitchFamily="34" charset="0"/>
              </a:rPr>
              <a:t>Largest Number is </a:t>
            </a:r>
            <a:r>
              <a:rPr sz="1400" b="1" dirty="0">
                <a:latin typeface="Arial" panose="02080604020202020204" pitchFamily="34" charset="0"/>
              </a:rPr>
              <a:t>7</a:t>
            </a:r>
            <a:endParaRPr sz="1400" b="1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tr-TR" altLang="x-none" dirty="0"/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b="1" dirty="0"/>
              <a:t>Example 11</a:t>
            </a:r>
            <a:r>
              <a:rPr dirty="0"/>
              <a:t>: Write down an algorithm and draw a flowchart to find and print the largest of N (N can be any number) numbers. Read numbers one by one. Verify your result by a trace table. (Assume N to be 5 and the following set to be the numbers {1 4 2 6 8 })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b="1" dirty="0"/>
              <a:t>Algorithm</a:t>
            </a:r>
            <a:r>
              <a:rPr dirty="0"/>
              <a:t>: </a:t>
            </a:r>
            <a:endParaRPr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sz="2000" dirty="0"/>
              <a:t>Step 1:	</a:t>
            </a:r>
            <a:r>
              <a:rPr sz="2000" i="1" dirty="0"/>
              <a:t>Input</a:t>
            </a:r>
            <a:r>
              <a:rPr sz="2000" dirty="0"/>
              <a:t> N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2:          </a:t>
            </a:r>
            <a:r>
              <a:rPr sz="2000" i="1" dirty="0"/>
              <a:t>Input</a:t>
            </a:r>
            <a:r>
              <a:rPr sz="2000" dirty="0"/>
              <a:t>  Current		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3: 	Max </a:t>
            </a:r>
            <a:r>
              <a:rPr sz="2000" dirty="0">
                <a:sym typeface="Wingdings" panose="05000000000000000000" pitchFamily="2" charset="2"/>
              </a:rPr>
              <a:t></a:t>
            </a:r>
            <a:r>
              <a:rPr sz="2000" dirty="0"/>
              <a:t> Current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4: 	Counter </a:t>
            </a:r>
            <a:r>
              <a:rPr sz="2000" dirty="0">
                <a:sym typeface="Wingdings" panose="05000000000000000000" pitchFamily="2" charset="2"/>
              </a:rPr>
              <a:t></a:t>
            </a:r>
            <a:r>
              <a:rPr sz="2000" dirty="0"/>
              <a:t>1 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5: 	</a:t>
            </a:r>
            <a:r>
              <a:rPr sz="2000" i="1" dirty="0"/>
              <a:t>While </a:t>
            </a:r>
            <a:r>
              <a:rPr sz="2000" dirty="0"/>
              <a:t>(Counter &lt; N) 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				Repeat steps 5 through 8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6: 	Counter </a:t>
            </a:r>
            <a:r>
              <a:rPr sz="2000" dirty="0">
                <a:sym typeface="Wingdings" panose="05000000000000000000" pitchFamily="2" charset="2"/>
              </a:rPr>
              <a:t></a:t>
            </a:r>
            <a:r>
              <a:rPr sz="2000" dirty="0"/>
              <a:t> Counter + 1 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7: 	</a:t>
            </a:r>
            <a:r>
              <a:rPr sz="2000" i="1" dirty="0"/>
              <a:t>Input</a:t>
            </a:r>
            <a:r>
              <a:rPr sz="2000" dirty="0"/>
              <a:t> Next 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8: 	</a:t>
            </a:r>
            <a:r>
              <a:rPr sz="2000" i="1" dirty="0"/>
              <a:t>If</a:t>
            </a:r>
            <a:r>
              <a:rPr sz="2000" dirty="0"/>
              <a:t>  (Next &gt; Max) then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				Max </a:t>
            </a:r>
            <a:r>
              <a:rPr sz="2000" dirty="0">
                <a:sym typeface="Wingdings" panose="05000000000000000000" pitchFamily="2" charset="2"/>
              </a:rPr>
              <a:t></a:t>
            </a:r>
            <a:r>
              <a:rPr sz="2000" dirty="0"/>
              <a:t> Next </a:t>
            </a:r>
            <a:endParaRPr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sz="2000" dirty="0"/>
              <a:t>			</a:t>
            </a:r>
            <a:r>
              <a:rPr sz="2000" i="1" dirty="0"/>
              <a:t>endif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Step 9: 	</a:t>
            </a:r>
            <a:r>
              <a:rPr sz="2000" i="1" dirty="0"/>
              <a:t>Print</a:t>
            </a:r>
            <a:r>
              <a:rPr sz="2000" dirty="0"/>
              <a:t>  Max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10" name="Group 5"/>
          <p:cNvGrpSpPr/>
          <p:nvPr/>
        </p:nvGrpSpPr>
        <p:grpSpPr>
          <a:xfrm>
            <a:off x="2232025" y="1025525"/>
            <a:ext cx="4210050" cy="5526088"/>
            <a:chOff x="3515" y="1614"/>
            <a:chExt cx="6631" cy="8703"/>
          </a:xfrm>
        </p:grpSpPr>
        <p:sp>
          <p:nvSpPr>
            <p:cNvPr id="17411" name="AutoShape 6"/>
            <p:cNvSpPr/>
            <p:nvPr/>
          </p:nvSpPr>
          <p:spPr>
            <a:xfrm>
              <a:off x="4908" y="1614"/>
              <a:ext cx="1440" cy="576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START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2" name="Line 7"/>
            <p:cNvSpPr/>
            <p:nvPr/>
          </p:nvSpPr>
          <p:spPr>
            <a:xfrm>
              <a:off x="5628" y="2190"/>
              <a:ext cx="0" cy="2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13" name="AutoShape 8"/>
            <p:cNvSpPr/>
            <p:nvPr/>
          </p:nvSpPr>
          <p:spPr>
            <a:xfrm>
              <a:off x="4019" y="2493"/>
              <a:ext cx="3168" cy="654"/>
            </a:xfrm>
            <a:prstGeom prst="flowChartInputOutpu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Input</a:t>
              </a:r>
              <a:endParaRPr sz="1200" b="1" dirty="0">
                <a:latin typeface="Arial" panose="02080604020202020204" pitchFamily="34" charset="0"/>
              </a:endParaRPr>
            </a:p>
            <a:p>
              <a:pPr algn="ctr"/>
              <a:r>
                <a:rPr sz="1100" b="1" dirty="0">
                  <a:latin typeface="Arial" panose="02080604020202020204" pitchFamily="34" charset="0"/>
                </a:rPr>
                <a:t>N, Current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4" name="AutoShape 9"/>
            <p:cNvSpPr/>
            <p:nvPr/>
          </p:nvSpPr>
          <p:spPr>
            <a:xfrm>
              <a:off x="4407" y="3450"/>
              <a:ext cx="2429" cy="366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Max </a:t>
              </a:r>
              <a:r>
                <a:rPr sz="1200" b="1" dirty="0">
                  <a:latin typeface="Arial" panose="02080604020202020204" pitchFamily="34" charset="0"/>
                  <a:sym typeface="Wingdings" panose="05000000000000000000" pitchFamily="2" charset="2"/>
                </a:rPr>
                <a:t></a:t>
              </a:r>
              <a:r>
                <a:rPr sz="1200" b="1" dirty="0">
                  <a:latin typeface="Arial" panose="02080604020202020204" pitchFamily="34" charset="0"/>
                </a:rPr>
                <a:t> Current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5" name="AutoShape 10"/>
            <p:cNvSpPr/>
            <p:nvPr/>
          </p:nvSpPr>
          <p:spPr>
            <a:xfrm>
              <a:off x="4396" y="4757"/>
              <a:ext cx="2376" cy="108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sz="1200" b="1" dirty="0">
                <a:latin typeface="Arial" panose="02080604020202020204" pitchFamily="34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6" name="AutoShape 11"/>
            <p:cNvSpPr/>
            <p:nvPr/>
          </p:nvSpPr>
          <p:spPr>
            <a:xfrm>
              <a:off x="7698" y="5877"/>
              <a:ext cx="2448" cy="1008"/>
            </a:xfrm>
            <a:prstGeom prst="flowChartDisplay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Print</a:t>
              </a:r>
              <a:endParaRPr sz="1200" b="1" dirty="0">
                <a:latin typeface="Arial" panose="02080604020202020204" pitchFamily="34" charset="0"/>
              </a:endParaRPr>
            </a:p>
            <a:p>
              <a:pPr algn="ctr"/>
              <a:r>
                <a:rPr sz="1200" b="1" dirty="0">
                  <a:latin typeface="Arial" panose="02080604020202020204" pitchFamily="34" charset="0"/>
                </a:rPr>
                <a:t>Max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7" name="AutoShape 12"/>
            <p:cNvSpPr/>
            <p:nvPr/>
          </p:nvSpPr>
          <p:spPr>
            <a:xfrm>
              <a:off x="8228" y="7392"/>
              <a:ext cx="1440" cy="576"/>
            </a:xfrm>
            <a:prstGeom prst="flowChartTermina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STOP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18" name="Line 13"/>
            <p:cNvSpPr/>
            <p:nvPr/>
          </p:nvSpPr>
          <p:spPr>
            <a:xfrm>
              <a:off x="6755" y="5307"/>
              <a:ext cx="217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9" name="Line 14"/>
            <p:cNvSpPr/>
            <p:nvPr/>
          </p:nvSpPr>
          <p:spPr>
            <a:xfrm>
              <a:off x="8919" y="5307"/>
              <a:ext cx="0" cy="5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0" name="Text Box 15"/>
            <p:cNvSpPr txBox="1"/>
            <p:nvPr/>
          </p:nvSpPr>
          <p:spPr>
            <a:xfrm>
              <a:off x="5533" y="5761"/>
              <a:ext cx="72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Y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21" name="Text Box 16"/>
            <p:cNvSpPr txBox="1"/>
            <p:nvPr/>
          </p:nvSpPr>
          <p:spPr>
            <a:xfrm>
              <a:off x="4511" y="4913"/>
              <a:ext cx="203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endParaRPr sz="1000" b="1" dirty="0">
                <a:latin typeface="Arial" panose="02080604020202020204" pitchFamily="34" charset="0"/>
              </a:endParaRPr>
            </a:p>
            <a:p>
              <a:pPr algn="ctr"/>
              <a:r>
                <a:rPr sz="1000" b="1" dirty="0">
                  <a:latin typeface="Arial" panose="02080604020202020204" pitchFamily="34" charset="0"/>
                </a:rPr>
                <a:t>Counter &lt; N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22" name="Line 17"/>
            <p:cNvSpPr/>
            <p:nvPr/>
          </p:nvSpPr>
          <p:spPr>
            <a:xfrm>
              <a:off x="5629" y="3151"/>
              <a:ext cx="0" cy="2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3" name="Line 18"/>
            <p:cNvSpPr/>
            <p:nvPr/>
          </p:nvSpPr>
          <p:spPr>
            <a:xfrm>
              <a:off x="5580" y="4246"/>
              <a:ext cx="0" cy="55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4" name="Line 19"/>
            <p:cNvSpPr/>
            <p:nvPr/>
          </p:nvSpPr>
          <p:spPr>
            <a:xfrm>
              <a:off x="5590" y="5856"/>
              <a:ext cx="0" cy="3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5" name="Line 20"/>
            <p:cNvSpPr/>
            <p:nvPr/>
          </p:nvSpPr>
          <p:spPr>
            <a:xfrm flipV="1">
              <a:off x="3515" y="4527"/>
              <a:ext cx="0" cy="579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6" name="Line 21"/>
            <p:cNvSpPr/>
            <p:nvPr/>
          </p:nvSpPr>
          <p:spPr>
            <a:xfrm>
              <a:off x="3515" y="4542"/>
              <a:ext cx="207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7" name="Text Box 22"/>
            <p:cNvSpPr txBox="1"/>
            <p:nvPr/>
          </p:nvSpPr>
          <p:spPr>
            <a:xfrm>
              <a:off x="6745" y="4917"/>
              <a:ext cx="72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N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28" name="Line 23"/>
            <p:cNvSpPr/>
            <p:nvPr/>
          </p:nvSpPr>
          <p:spPr>
            <a:xfrm>
              <a:off x="8899" y="6858"/>
              <a:ext cx="0" cy="5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9" name="AutoShape 24"/>
            <p:cNvSpPr/>
            <p:nvPr/>
          </p:nvSpPr>
          <p:spPr>
            <a:xfrm>
              <a:off x="4422" y="4080"/>
              <a:ext cx="2429" cy="366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Counter </a:t>
              </a:r>
              <a:r>
                <a:rPr sz="1200" b="1" dirty="0">
                  <a:latin typeface="Arial" panose="02080604020202020204" pitchFamily="34" charset="0"/>
                  <a:sym typeface="Wingdings" panose="05000000000000000000" pitchFamily="2" charset="2"/>
                </a:rPr>
                <a:t></a:t>
              </a:r>
              <a:r>
                <a:rPr sz="1200" b="1" dirty="0">
                  <a:latin typeface="Arial" panose="02080604020202020204" pitchFamily="34" charset="0"/>
                </a:rPr>
                <a:t>1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30" name="Line 25"/>
            <p:cNvSpPr/>
            <p:nvPr/>
          </p:nvSpPr>
          <p:spPr>
            <a:xfrm>
              <a:off x="5644" y="3826"/>
              <a:ext cx="0" cy="2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1" name="AutoShape 26"/>
            <p:cNvSpPr/>
            <p:nvPr/>
          </p:nvSpPr>
          <p:spPr>
            <a:xfrm>
              <a:off x="4272" y="6255"/>
              <a:ext cx="2654" cy="366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000" b="1" dirty="0">
                  <a:latin typeface="Arial" panose="02080604020202020204" pitchFamily="34" charset="0"/>
                </a:rPr>
                <a:t>Counter </a:t>
              </a:r>
              <a:r>
                <a:rPr sz="1000" b="1" dirty="0">
                  <a:latin typeface="Arial" panose="02080604020202020204" pitchFamily="34" charset="0"/>
                  <a:sym typeface="Wingdings" panose="05000000000000000000" pitchFamily="2" charset="2"/>
                </a:rPr>
                <a:t></a:t>
              </a:r>
              <a:r>
                <a:rPr sz="1000" b="1" dirty="0">
                  <a:latin typeface="Arial" panose="02080604020202020204" pitchFamily="34" charset="0"/>
                </a:rPr>
                <a:t> Counter +1</a:t>
              </a:r>
              <a:endParaRPr sz="1000" dirty="0">
                <a:latin typeface="Arial" panose="02080604020202020204" pitchFamily="34" charset="0"/>
              </a:endParaRPr>
            </a:p>
          </p:txBody>
        </p:sp>
        <p:sp>
          <p:nvSpPr>
            <p:cNvPr id="17432" name="Line 27"/>
            <p:cNvSpPr/>
            <p:nvPr/>
          </p:nvSpPr>
          <p:spPr>
            <a:xfrm>
              <a:off x="5598" y="6645"/>
              <a:ext cx="0" cy="2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3" name="AutoShape 28"/>
            <p:cNvSpPr/>
            <p:nvPr/>
          </p:nvSpPr>
          <p:spPr>
            <a:xfrm>
              <a:off x="4004" y="6903"/>
              <a:ext cx="3168" cy="654"/>
            </a:xfrm>
            <a:prstGeom prst="flowChartInputOutpu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Input</a:t>
              </a:r>
              <a:endParaRPr sz="1200" b="1" dirty="0">
                <a:latin typeface="Arial" panose="02080604020202020204" pitchFamily="34" charset="0"/>
              </a:endParaRPr>
            </a:p>
            <a:p>
              <a:pPr algn="ctr"/>
              <a:r>
                <a:rPr sz="1100" b="1" dirty="0">
                  <a:latin typeface="Arial" panose="02080604020202020204" pitchFamily="34" charset="0"/>
                </a:rPr>
                <a:t>Next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34" name="AutoShape 29"/>
            <p:cNvSpPr/>
            <p:nvPr/>
          </p:nvSpPr>
          <p:spPr>
            <a:xfrm>
              <a:off x="4381" y="7892"/>
              <a:ext cx="2376" cy="108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Next &gt;Max</a:t>
              </a:r>
              <a:endParaRPr sz="1200" b="1" dirty="0">
                <a:latin typeface="Arial" panose="02080604020202020204" pitchFamily="34" charset="0"/>
              </a:endParaRPr>
            </a:p>
            <a:p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35" name="Text Box 30"/>
            <p:cNvSpPr txBox="1"/>
            <p:nvPr/>
          </p:nvSpPr>
          <p:spPr>
            <a:xfrm>
              <a:off x="5533" y="8926"/>
              <a:ext cx="72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Y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36" name="Line 31"/>
            <p:cNvSpPr/>
            <p:nvPr/>
          </p:nvSpPr>
          <p:spPr>
            <a:xfrm>
              <a:off x="5575" y="9006"/>
              <a:ext cx="0" cy="3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7" name="Text Box 32"/>
            <p:cNvSpPr txBox="1"/>
            <p:nvPr/>
          </p:nvSpPr>
          <p:spPr>
            <a:xfrm>
              <a:off x="6745" y="8082"/>
              <a:ext cx="72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sz="1200" b="1" dirty="0">
                  <a:latin typeface="Arial" panose="02080604020202020204" pitchFamily="34" charset="0"/>
                </a:rPr>
                <a:t>N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38" name="Line 33"/>
            <p:cNvSpPr/>
            <p:nvPr/>
          </p:nvSpPr>
          <p:spPr>
            <a:xfrm>
              <a:off x="5580" y="7546"/>
              <a:ext cx="0" cy="3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9" name="AutoShape 34"/>
            <p:cNvSpPr/>
            <p:nvPr/>
          </p:nvSpPr>
          <p:spPr>
            <a:xfrm>
              <a:off x="4302" y="9360"/>
              <a:ext cx="2654" cy="366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r>
                <a:rPr sz="1200" b="1" dirty="0">
                  <a:latin typeface="Arial" panose="02080604020202020204" pitchFamily="34" charset="0"/>
                </a:rPr>
                <a:t>Max </a:t>
              </a:r>
              <a:r>
                <a:rPr sz="1200" b="1" dirty="0">
                  <a:latin typeface="Arial" panose="02080604020202020204" pitchFamily="34" charset="0"/>
                  <a:sym typeface="Wingdings" panose="05000000000000000000" pitchFamily="2" charset="2"/>
                </a:rPr>
                <a:t></a:t>
              </a:r>
              <a:r>
                <a:rPr sz="1200" b="1" dirty="0">
                  <a:latin typeface="Arial" panose="02080604020202020204" pitchFamily="34" charset="0"/>
                </a:rPr>
                <a:t> Next</a:t>
              </a:r>
              <a:endParaRPr dirty="0">
                <a:latin typeface="Arial" panose="02080604020202020204" pitchFamily="34" charset="0"/>
              </a:endParaRPr>
            </a:p>
          </p:txBody>
        </p:sp>
        <p:sp>
          <p:nvSpPr>
            <p:cNvPr id="17440" name="Line 35"/>
            <p:cNvSpPr/>
            <p:nvPr/>
          </p:nvSpPr>
          <p:spPr>
            <a:xfrm>
              <a:off x="5549" y="9723"/>
              <a:ext cx="0" cy="5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1" name="Line 36"/>
            <p:cNvSpPr/>
            <p:nvPr/>
          </p:nvSpPr>
          <p:spPr>
            <a:xfrm flipH="1">
              <a:off x="3524" y="10308"/>
              <a:ext cx="202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2" name="Line 37"/>
            <p:cNvSpPr/>
            <p:nvPr/>
          </p:nvSpPr>
          <p:spPr>
            <a:xfrm>
              <a:off x="6764" y="8433"/>
              <a:ext cx="7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3" name="Line 38"/>
            <p:cNvSpPr/>
            <p:nvPr/>
          </p:nvSpPr>
          <p:spPr>
            <a:xfrm>
              <a:off x="7559" y="8448"/>
              <a:ext cx="0" cy="14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4" name="Line 39"/>
            <p:cNvSpPr/>
            <p:nvPr/>
          </p:nvSpPr>
          <p:spPr>
            <a:xfrm flipH="1">
              <a:off x="5549" y="9933"/>
              <a:ext cx="199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Tracing</a:t>
            </a:r>
            <a:endParaRPr dirty="0"/>
          </a:p>
        </p:txBody>
      </p:sp>
      <p:sp>
        <p:nvSpPr>
          <p:cNvPr id="18435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sz="1400" dirty="0"/>
              <a:t>            </a:t>
            </a:r>
            <a:endParaRPr sz="1400" dirty="0"/>
          </a:p>
        </p:txBody>
      </p:sp>
      <p:sp>
        <p:nvSpPr>
          <p:cNvPr id="18436" name="Text Box 4"/>
          <p:cNvSpPr txBox="1"/>
          <p:nvPr/>
        </p:nvSpPr>
        <p:spPr>
          <a:xfrm>
            <a:off x="381000" y="1905000"/>
            <a:ext cx="83820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tr-TR" altLang="x-none" sz="1600" dirty="0">
              <a:latin typeface="Arial" panose="02080604020202020204" pitchFamily="34" charset="0"/>
            </a:endParaRPr>
          </a:p>
        </p:txBody>
      </p:sp>
      <p:graphicFrame>
        <p:nvGraphicFramePr>
          <p:cNvPr id="25683" name="Group 83"/>
          <p:cNvGraphicFramePr>
            <a:graphicFrameLocks noGrp="1"/>
          </p:cNvGraphicFramePr>
          <p:nvPr>
            <p:ph sz="half" idx="1"/>
          </p:nvPr>
        </p:nvGraphicFramePr>
        <p:xfrm>
          <a:off x="381000" y="1447800"/>
          <a:ext cx="8153400" cy="5995988"/>
        </p:xfrm>
        <a:graphic>
          <a:graphicData uri="http://schemas.openxmlformats.org/drawingml/2006/table">
            <a:tbl>
              <a:tblPr/>
              <a:tblGrid>
                <a:gridCol w="1082675"/>
                <a:gridCol w="1082675"/>
                <a:gridCol w="1082675"/>
                <a:gridCol w="1081088"/>
                <a:gridCol w="776287"/>
                <a:gridCol w="1066800"/>
                <a:gridCol w="762000"/>
                <a:gridCol w="1219200"/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N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Current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Max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Counter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Counter &lt; N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Next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Next &gt; Max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3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7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Step 9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 output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1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3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3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3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3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5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4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2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6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8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8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T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</a:rPr>
                        <a:t>F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5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398780" eaLnBrk="1" hangingPunct="1">
              <a:lnSpc>
                <a:spcPct val="80000"/>
              </a:lnSpc>
              <a:spcBef>
                <a:spcPct val="50000"/>
              </a:spcBef>
            </a:pPr>
            <a:r>
              <a:rPr sz="2800" b="1" dirty="0"/>
              <a:t>Prob. 1.	</a:t>
            </a:r>
            <a:r>
              <a:rPr lang="en-AU" altLang="x-none" sz="2800" dirty="0"/>
              <a:t>Write an algorithm and draw a flowchart to print the square of all  numbers from LOW to HIGH. Test with LOW=1 and HIGH=10.</a:t>
            </a:r>
            <a:endParaRPr lang="en-AU" altLang="x-none" sz="2800" dirty="0"/>
          </a:p>
          <a:p>
            <a:pPr marL="533400" indent="-533400" defTabSz="398780" eaLnBrk="1" hangingPunct="1">
              <a:lnSpc>
                <a:spcPct val="80000"/>
              </a:lnSpc>
              <a:spcBef>
                <a:spcPct val="50000"/>
              </a:spcBef>
            </a:pPr>
            <a:r>
              <a:rPr sz="2800" b="1" dirty="0"/>
              <a:t>Prob. 2.	</a:t>
            </a:r>
            <a:r>
              <a:rPr lang="en-AU" altLang="x-none" sz="2800" dirty="0"/>
              <a:t> Write an algorithm and draw a flowchart to print the SUM of numbers from LOW to HIGH. Test with LOW=3 and HIGH=9.</a:t>
            </a:r>
            <a:endParaRPr lang="en-AU" altLang="x-none" sz="2800" dirty="0"/>
          </a:p>
          <a:p>
            <a:pPr marL="533400" indent="-533400" defTabSz="398780" eaLnBrk="1" hangingPunct="1">
              <a:lnSpc>
                <a:spcPct val="80000"/>
              </a:lnSpc>
              <a:spcBef>
                <a:spcPct val="50000"/>
              </a:spcBef>
            </a:pPr>
            <a:r>
              <a:rPr sz="2800" b="1" dirty="0"/>
              <a:t>Prob. 3.	</a:t>
            </a:r>
            <a:r>
              <a:rPr lang="en-AU" altLang="x-none" sz="2800" dirty="0"/>
              <a:t> Write an algorithm and draw a flowchart to print the SUM of numbers from LOW to HIGH. Test with LOW=3 and HIGH=9.</a:t>
            </a:r>
            <a:endParaRPr lang="en-AU" altLang="x-none" sz="2800" dirty="0"/>
          </a:p>
          <a:p>
            <a:pPr marL="533400" indent="-533400" defTabSz="398780" eaLnBrk="1" hangingPunct="1">
              <a:lnSpc>
                <a:spcPct val="80000"/>
              </a:lnSpc>
              <a:spcBef>
                <a:spcPct val="50000"/>
              </a:spcBef>
            </a:pPr>
            <a:r>
              <a:rPr sz="2800" b="1" dirty="0"/>
              <a:t>Prob. 4.	</a:t>
            </a:r>
            <a:r>
              <a:rPr lang="en-AU" altLang="x-none" sz="2800" dirty="0"/>
              <a:t> Write an algorithm and draw a flowchart to print all numbers between LOW and HIGH that are divisible by NUMBER. </a:t>
            </a:r>
            <a:endParaRPr lang="en-AU" altLang="x-none" sz="2800" dirty="0"/>
          </a:p>
          <a:p>
            <a:pPr marL="533400" indent="-533400" defTabSz="398780" eaLnBrk="1" hangingPunct="1">
              <a:lnSpc>
                <a:spcPct val="80000"/>
              </a:lnSpc>
              <a:spcBef>
                <a:spcPct val="50000"/>
              </a:spcBef>
            </a:pPr>
            <a:r>
              <a:rPr sz="2800" b="1" dirty="0"/>
              <a:t>Prob. 5.	</a:t>
            </a:r>
            <a:r>
              <a:rPr lang="en-AU" altLang="x-none" sz="2800" dirty="0"/>
              <a:t> Write an algorithm and draw a flowchart to print all the prime numbers between LOW and HIGH. Test with LOW=1 and HIGH=100.</a:t>
            </a:r>
            <a:endParaRPr lang="en-AU" altLang="x-none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4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1330325" eaLnBrk="1" hangingPunct="1">
              <a:lnSpc>
                <a:spcPct val="80000"/>
              </a:lnSpc>
            </a:pPr>
            <a:r>
              <a:rPr sz="2800" b="1" dirty="0"/>
              <a:t>Prob. 6.</a:t>
            </a:r>
            <a:r>
              <a:rPr lang="tr-TR" altLang="x-none" sz="2800" b="1" dirty="0"/>
              <a:t> </a:t>
            </a:r>
            <a:r>
              <a:rPr lang="en-AU" altLang="x-none" sz="2800" dirty="0"/>
              <a:t>Write an algorithm and draw a flowchart to count and print all numbers from LOW to HIGH by steps of STEP. Test with LOW=0 and HIGH=100.</a:t>
            </a:r>
            <a:endParaRPr lang="en-AU" altLang="x-none"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endParaRPr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r>
              <a:rPr sz="2800" b="1" dirty="0"/>
              <a:t>Prob. 7.</a:t>
            </a:r>
            <a:r>
              <a:rPr lang="tr-TR" altLang="x-none" sz="2800" b="1" dirty="0"/>
              <a:t> </a:t>
            </a:r>
            <a:r>
              <a:rPr lang="en-AU" altLang="x-none" sz="2800" dirty="0"/>
              <a:t>Write an algorithm and draw a flowchart to count and print all numbers from HIGH to LOW by steps of STEP. Test with HIGH=100 and LOW=0.</a:t>
            </a:r>
            <a:endParaRPr lang="en-AU" altLang="x-none"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endParaRPr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r>
              <a:rPr sz="2800" b="1" dirty="0"/>
              <a:t>Prob. 8.</a:t>
            </a:r>
            <a:r>
              <a:rPr lang="tr-TR" altLang="x-none" sz="2800" b="1" dirty="0"/>
              <a:t> </a:t>
            </a:r>
            <a:r>
              <a:rPr lang="en-AU" altLang="x-none" sz="2800" dirty="0"/>
              <a:t>Write an algorithm and draw a flowchart to print the multiplication table for 6's. i.e. </a:t>
            </a:r>
            <a:endParaRPr lang="en-AU" altLang="x-none"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r>
              <a:rPr lang="tr-TR" altLang="x-none" sz="2800" dirty="0"/>
              <a:t>	</a:t>
            </a:r>
            <a:r>
              <a:rPr lang="en-AU" altLang="x-none" sz="2800" dirty="0"/>
              <a:t>---- 1 </a:t>
            </a:r>
            <a:r>
              <a:rPr lang="en-AU" altLang="x-none" sz="2800" dirty="0">
                <a:sym typeface="Symbol" pitchFamily="18" charset="2"/>
              </a:rPr>
              <a:t></a:t>
            </a:r>
            <a:r>
              <a:rPr lang="en-AU" altLang="x-none" sz="2800" dirty="0"/>
              <a:t> 6 = 6</a:t>
            </a:r>
            <a:endParaRPr lang="en-AU" altLang="x-none"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r>
              <a:rPr lang="tr-TR" altLang="x-none" sz="2800" dirty="0"/>
              <a:t>	</a:t>
            </a:r>
            <a:r>
              <a:rPr lang="en-AU" altLang="x-none" sz="2800" dirty="0"/>
              <a:t>---- 2 </a:t>
            </a:r>
            <a:r>
              <a:rPr lang="en-AU" altLang="x-none" sz="2800" dirty="0">
                <a:sym typeface="Symbol" pitchFamily="18" charset="2"/>
              </a:rPr>
              <a:t></a:t>
            </a:r>
            <a:r>
              <a:rPr lang="en-AU" altLang="x-none" sz="2800" dirty="0"/>
              <a:t> 6 = 12</a:t>
            </a:r>
            <a:br>
              <a:rPr lang="en-AU" altLang="x-none" sz="2800" dirty="0"/>
            </a:br>
            <a:r>
              <a:rPr lang="en-AU" altLang="x-none" sz="2800" dirty="0"/>
              <a:t>… </a:t>
            </a:r>
            <a:endParaRPr lang="en-AU" altLang="x-none" sz="2800" dirty="0"/>
          </a:p>
          <a:p>
            <a:pPr marL="533400" indent="-533400" defTabSz="1330325" eaLnBrk="1" hangingPunct="1">
              <a:lnSpc>
                <a:spcPct val="80000"/>
              </a:lnSpc>
            </a:pPr>
            <a:r>
              <a:rPr lang="tr-TR" altLang="x-none" sz="2800" dirty="0"/>
              <a:t>	</a:t>
            </a:r>
            <a:r>
              <a:rPr lang="en-AU" altLang="x-none" sz="2800" dirty="0"/>
              <a:t>---- 12 </a:t>
            </a:r>
            <a:r>
              <a:rPr lang="en-AU" altLang="x-none" sz="2800" dirty="0">
                <a:sym typeface="Symbol" pitchFamily="18" charset="2"/>
              </a:rPr>
              <a:t></a:t>
            </a:r>
            <a:r>
              <a:rPr lang="en-AU" altLang="x-none" sz="2800" dirty="0"/>
              <a:t> 6 = 72</a:t>
            </a:r>
            <a:endParaRPr lang="en-AU" altLang="x-none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4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sz="2800" b="1" dirty="0"/>
              <a:t>Prob. 9.	</a:t>
            </a:r>
            <a:r>
              <a:rPr lang="en-AU" altLang="x-none" sz="2800" dirty="0"/>
              <a:t>Write an algorithm and draw a flowchart to print the complete multiplication table for 1's. through 12's.</a:t>
            </a:r>
            <a:endParaRPr lang="en-AU" altLang="x-none" sz="2800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lang="en-AU" altLang="x-none" sz="2400" dirty="0"/>
              <a:t>---- 1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 = 1</a:t>
            </a:r>
            <a:r>
              <a:rPr lang="tr-TR" altLang="x-none" sz="2400" dirty="0"/>
              <a:t>, </a:t>
            </a:r>
            <a:r>
              <a:rPr lang="en-AU" altLang="x-none" sz="2400" dirty="0"/>
              <a:t>1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2 = 2</a:t>
            </a:r>
            <a:r>
              <a:rPr lang="tr-TR" altLang="x-none" sz="2400" dirty="0"/>
              <a:t>, 	</a:t>
            </a:r>
            <a:r>
              <a:rPr lang="en-AU" altLang="x-none" sz="2400" dirty="0"/>
              <a:t>…   1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12 = 12</a:t>
            </a:r>
            <a:endParaRPr lang="en-AU" altLang="x-none" sz="2400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lang="en-AU" altLang="x-none" sz="2400" dirty="0"/>
              <a:t>---- 2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 = 2</a:t>
            </a:r>
            <a:r>
              <a:rPr lang="tr-TR" altLang="x-none" sz="2400" dirty="0"/>
              <a:t>, </a:t>
            </a:r>
            <a:r>
              <a:rPr lang="en-AU" altLang="x-none" sz="2400" dirty="0"/>
              <a:t>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2 = 4</a:t>
            </a:r>
            <a:r>
              <a:rPr lang="tr-TR" altLang="x-none" sz="2400" dirty="0"/>
              <a:t>, 	</a:t>
            </a:r>
            <a:r>
              <a:rPr lang="en-AU" altLang="x-none" sz="2400" dirty="0"/>
              <a:t>…   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12 = 24</a:t>
            </a:r>
            <a:br>
              <a:rPr lang="en-AU" altLang="x-none" sz="2400" dirty="0"/>
            </a:br>
            <a:r>
              <a:rPr lang="en-AU" altLang="x-none" sz="2400" dirty="0"/>
              <a:t>… </a:t>
            </a:r>
            <a:r>
              <a:rPr lang="tr-TR" altLang="x-none" sz="2400" dirty="0"/>
              <a:t>	</a:t>
            </a:r>
            <a:r>
              <a:rPr lang="en-AU" altLang="x-none" sz="2400" dirty="0"/>
              <a:t>… </a:t>
            </a:r>
            <a:endParaRPr lang="tr-TR" altLang="x-none" sz="2400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lang="en-AU" altLang="x-none" sz="2400" dirty="0"/>
              <a:t>---- 12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 = 12</a:t>
            </a:r>
            <a:r>
              <a:rPr lang="tr-TR" altLang="x-none" sz="2400" dirty="0"/>
              <a:t>, </a:t>
            </a:r>
            <a:r>
              <a:rPr lang="en-AU" altLang="x-none" sz="2400" dirty="0"/>
              <a:t>12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2 = 24</a:t>
            </a:r>
            <a:r>
              <a:rPr lang="tr-TR" altLang="x-none" sz="2400" dirty="0"/>
              <a:t>, 	</a:t>
            </a:r>
            <a:r>
              <a:rPr lang="en-AU" altLang="x-none" sz="2400" dirty="0"/>
              <a:t>…12 </a:t>
            </a:r>
            <a:r>
              <a:rPr lang="en-AU" altLang="x-none" sz="2400" dirty="0">
                <a:sym typeface="Symbol" pitchFamily="18" charset="2"/>
              </a:rPr>
              <a:t></a:t>
            </a:r>
            <a:r>
              <a:rPr lang="en-AU" altLang="x-none" sz="2400" dirty="0"/>
              <a:t> 12 = 144</a:t>
            </a:r>
            <a:endParaRPr lang="en-AU" altLang="x-none" sz="2400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endParaRPr lang="tr-TR" altLang="x-none" sz="2800" b="1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sz="2800" b="1" dirty="0"/>
              <a:t>Prob. 10.</a:t>
            </a:r>
            <a:r>
              <a:rPr lang="tr-TR" altLang="x-none" sz="2800" b="1" dirty="0"/>
              <a:t> </a:t>
            </a:r>
            <a:r>
              <a:rPr lang="en-AU" altLang="x-none" sz="2800" dirty="0"/>
              <a:t>Write an algorithm and draw a flowchart to arrange N values read from the input in ascending order.</a:t>
            </a:r>
            <a:endParaRPr sz="2800" dirty="0"/>
          </a:p>
          <a:p>
            <a:pPr marL="533400" indent="-533400" defTabSz="1027430" eaLnBrk="1" hangingPunct="1">
              <a:tabLst>
                <a:tab pos="533400" algn="l"/>
                <a:tab pos="1879600" algn="l"/>
                <a:tab pos="4749800" algn="l"/>
                <a:tab pos="6092825" algn="l"/>
                <a:tab pos="6667500" algn="l"/>
              </a:tabLst>
            </a:pPr>
            <a:r>
              <a:rPr sz="2800" b="1" dirty="0"/>
              <a:t>Prob. 11.</a:t>
            </a:r>
            <a:r>
              <a:rPr lang="tr-TR" altLang="x-none" sz="2800" b="1" dirty="0"/>
              <a:t> </a:t>
            </a:r>
            <a:r>
              <a:rPr lang="en-AU" altLang="x-none" sz="2800" dirty="0"/>
              <a:t>Write an algorithm and draw a flowchart that will find and print the product of 3 numbers.</a:t>
            </a:r>
            <a:endParaRPr lang="en-AU" altLang="x-none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914400" eaLnBrk="1" hangingPunct="1">
              <a:tabLst>
                <a:tab pos="533400" algn="l"/>
              </a:tabLst>
            </a:pPr>
            <a:r>
              <a:rPr dirty="0"/>
              <a:t>	</a:t>
            </a:r>
            <a:endParaRPr lang="en-AU" altLang="x-none" dirty="0"/>
          </a:p>
          <a:p>
            <a:pPr marL="533400" indent="-533400" defTabSz="914400" eaLnBrk="1" hangingPunct="1">
              <a:tabLst>
                <a:tab pos="533400" algn="l"/>
              </a:tabLst>
            </a:pPr>
            <a:r>
              <a:rPr b="1" dirty="0"/>
              <a:t>Prob. 12.	</a:t>
            </a:r>
            <a:r>
              <a:rPr lang="en-AU" altLang="x-none" dirty="0"/>
              <a:t>Write an algorithm and draw a flowchart that will find and print </a:t>
            </a:r>
            <a:endParaRPr lang="en-AU" altLang="x-none" dirty="0"/>
          </a:p>
          <a:p>
            <a:pPr marL="533400" indent="-533400" defTabSz="914400" eaLnBrk="1" hangingPunct="1">
              <a:tabLst>
                <a:tab pos="533400" algn="l"/>
              </a:tabLst>
            </a:pPr>
            <a:r>
              <a:rPr lang="en-AU" altLang="x-none" dirty="0"/>
              <a:t>The factorial of NUMBER is FACTORIAL. </a:t>
            </a:r>
            <a:endParaRPr lang="en-AU" altLang="x-none" dirty="0"/>
          </a:p>
          <a:p>
            <a:pPr marL="533400" indent="-533400" defTabSz="914400" eaLnBrk="1" hangingPunct="1">
              <a:tabLst>
                <a:tab pos="533400" algn="l"/>
              </a:tabLst>
            </a:pPr>
            <a:r>
              <a:rPr lang="en-AU" altLang="x-none" dirty="0"/>
              <a:t>Test the flowchart for NUMBER=5.</a:t>
            </a:r>
            <a:endParaRPr lang="en-AU" altLang="x-none" dirty="0"/>
          </a:p>
          <a:p>
            <a:pPr marL="533400" indent="-533400" defTabSz="914400" eaLnBrk="1" hangingPunct="1">
              <a:tabLst>
                <a:tab pos="533400" algn="l"/>
              </a:tabLst>
            </a:pPr>
            <a:endParaRPr lang="en-AU" altLang="x-none" dirty="0"/>
          </a:p>
          <a:p>
            <a:pPr marL="533400" indent="-533400" defTabSz="914400" eaLnBrk="1" hangingPunct="1">
              <a:tabLst>
                <a:tab pos="533400" algn="l"/>
              </a:tabLst>
            </a:pPr>
            <a:r>
              <a:rPr b="1" dirty="0"/>
              <a:t>Prob. 13.	</a:t>
            </a:r>
            <a:r>
              <a:rPr lang="en-AU" altLang="x-none" dirty="0"/>
              <a:t>Write an algorithm and draw a flowchart that will find and print the number of vowels in a given set of characters and print there number of occurrences.</a:t>
            </a:r>
            <a:endParaRPr lang="en-AU" altLang="x-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</Template>
  <TotalTime>0</TotalTime>
  <Words>6536</Words>
  <Application>WPS Presentation</Application>
  <PresentationFormat>On-screen Show (4:3)</PresentationFormat>
  <Paragraphs>424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Nimbus Roman No9 L</vt:lpstr>
      <vt:lpstr>OpenSymbol</vt:lpstr>
      <vt:lpstr>Calibri</vt:lpstr>
      <vt:lpstr>DejaVu Sans</vt:lpstr>
      <vt:lpstr>Arial Black</vt:lpstr>
      <vt:lpstr>Times New Roman</vt:lpstr>
      <vt:lpstr>Symbol</vt:lpstr>
      <vt:lpstr>Gubbi</vt:lpstr>
      <vt:lpstr>TimesNewRomanPSMT</vt:lpstr>
      <vt:lpstr>Times</vt:lpstr>
      <vt:lpstr>Microsoft YaHei</vt:lpstr>
      <vt:lpstr>Droid Sans Fallback</vt:lpstr>
      <vt:lpstr>Arial Unicode MS</vt:lpstr>
      <vt:lpstr>Pixel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EMU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&amp; FLOWCHARTING II</dc:title>
  <dc:creator>Mustafa Uyguroglu</dc:creator>
  <cp:lastModifiedBy>massoudhamad</cp:lastModifiedBy>
  <cp:revision>19</cp:revision>
  <dcterms:created xsi:type="dcterms:W3CDTF">2021-11-08T10:49:50Z</dcterms:created>
  <dcterms:modified xsi:type="dcterms:W3CDTF">2021-11-08T10:49:50Z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